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K Modular" charset="1" panose="00000800000000000000"/>
      <p:regular r:id="rId19"/>
    </p:embeddedFont>
    <p:embeddedFont>
      <p:font typeface="Open Sans Bold" charset="1" panose="020B08060305040202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4350" y="553605"/>
            <a:ext cx="17259300" cy="9179790"/>
          </a:xfrm>
          <a:custGeom>
            <a:avLst/>
            <a:gdLst/>
            <a:ahLst/>
            <a:cxnLst/>
            <a:rect r="r" b="b" t="t" l="l"/>
            <a:pathLst>
              <a:path h="9179790" w="17259300">
                <a:moveTo>
                  <a:pt x="0" y="0"/>
                </a:moveTo>
                <a:lnTo>
                  <a:pt x="17259300" y="0"/>
                </a:lnTo>
                <a:lnTo>
                  <a:pt x="17259300" y="9179790"/>
                </a:lnTo>
                <a:lnTo>
                  <a:pt x="0" y="9179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95320" y="7458544"/>
            <a:ext cx="2897359" cy="901803"/>
          </a:xfrm>
          <a:custGeom>
            <a:avLst/>
            <a:gdLst/>
            <a:ahLst/>
            <a:cxnLst/>
            <a:rect r="r" b="b" t="t" l="l"/>
            <a:pathLst>
              <a:path h="901803" w="2897359">
                <a:moveTo>
                  <a:pt x="0" y="0"/>
                </a:moveTo>
                <a:lnTo>
                  <a:pt x="2897360" y="0"/>
                </a:lnTo>
                <a:lnTo>
                  <a:pt x="2897360" y="901803"/>
                </a:lnTo>
                <a:lnTo>
                  <a:pt x="0" y="9018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391217"/>
            <a:ext cx="16230600" cy="337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 spc="108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</a:t>
            </a:r>
            <a:r>
              <a:rPr lang="en-US" b="true" sz="6399" i="true" spc="1087" u="non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ess to Start:​</a:t>
            </a:r>
          </a:p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 spc="1087" u="non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La evolución de los videojuegos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2601902" y="4659302"/>
            <a:ext cx="8177065" cy="915861"/>
          </a:xfrm>
          <a:custGeom>
            <a:avLst/>
            <a:gdLst/>
            <a:ahLst/>
            <a:cxnLst/>
            <a:rect r="r" b="b" t="t" l="l"/>
            <a:pathLst>
              <a:path h="915861" w="8177065">
                <a:moveTo>
                  <a:pt x="0" y="0"/>
                </a:moveTo>
                <a:lnTo>
                  <a:pt x="8177065" y="0"/>
                </a:lnTo>
                <a:lnTo>
                  <a:pt x="8177065" y="915861"/>
                </a:lnTo>
                <a:lnTo>
                  <a:pt x="0" y="915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3731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2712837" y="4659302"/>
            <a:ext cx="8177065" cy="915861"/>
          </a:xfrm>
          <a:custGeom>
            <a:avLst/>
            <a:gdLst/>
            <a:ahLst/>
            <a:cxnLst/>
            <a:rect r="r" b="b" t="t" l="l"/>
            <a:pathLst>
              <a:path h="915861" w="8177065">
                <a:moveTo>
                  <a:pt x="0" y="0"/>
                </a:moveTo>
                <a:lnTo>
                  <a:pt x="8177065" y="0"/>
                </a:lnTo>
                <a:lnTo>
                  <a:pt x="8177065" y="915861"/>
                </a:lnTo>
                <a:lnTo>
                  <a:pt x="0" y="915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37319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86711" y="4420217"/>
            <a:ext cx="9002306" cy="3990122"/>
          </a:xfrm>
          <a:custGeom>
            <a:avLst/>
            <a:gdLst/>
            <a:ahLst/>
            <a:cxnLst/>
            <a:rect r="r" b="b" t="t" l="l"/>
            <a:pathLst>
              <a:path h="3990122" w="9002306">
                <a:moveTo>
                  <a:pt x="0" y="0"/>
                </a:moveTo>
                <a:lnTo>
                  <a:pt x="9002306" y="0"/>
                </a:lnTo>
                <a:lnTo>
                  <a:pt x="9002306" y="3990122"/>
                </a:lnTo>
                <a:lnTo>
                  <a:pt x="0" y="3990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500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436207" y="2063309"/>
            <a:ext cx="4927879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b="true" sz="3000" spc="4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Fechas:</a:t>
            </a:r>
          </a:p>
          <a:p>
            <a:pPr algn="ctr">
              <a:lnSpc>
                <a:spcPts val="3390"/>
              </a:lnSpc>
            </a:pPr>
          </a:p>
          <a:p>
            <a:pPr algn="ctr">
              <a:lnSpc>
                <a:spcPts val="3390"/>
              </a:lnSpc>
            </a:pPr>
            <a:r>
              <a:rPr lang="en-US" b="true" sz="3000" spc="4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3000" spc="42">
                <a:solidFill>
                  <a:srgbClr val="F8D4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1980-2016</a:t>
            </a:r>
          </a:p>
          <a:p>
            <a:pPr algn="ctr">
              <a:lnSpc>
                <a:spcPts val="339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413503" y="2945397"/>
            <a:ext cx="482172" cy="418284"/>
          </a:xfrm>
          <a:custGeom>
            <a:avLst/>
            <a:gdLst/>
            <a:ahLst/>
            <a:cxnLst/>
            <a:rect r="r" b="b" t="t" l="l"/>
            <a:pathLst>
              <a:path h="418284" w="482172">
                <a:moveTo>
                  <a:pt x="0" y="0"/>
                </a:moveTo>
                <a:lnTo>
                  <a:pt x="482172" y="0"/>
                </a:lnTo>
                <a:lnTo>
                  <a:pt x="482172" y="418284"/>
                </a:lnTo>
                <a:lnTo>
                  <a:pt x="0" y="418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2032" y="1804661"/>
            <a:ext cx="3904175" cy="219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b="true" sz="3000" spc="4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Núme</a:t>
            </a:r>
            <a:r>
              <a:rPr lang="en-US" b="true" sz="3000" spc="4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 de registros:</a:t>
            </a:r>
          </a:p>
          <a:p>
            <a:pPr algn="ctr">
              <a:lnSpc>
                <a:spcPts val="3390"/>
              </a:lnSpc>
            </a:pPr>
            <a:r>
              <a:rPr lang="en-US" b="true" sz="3000" spc="4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3390"/>
              </a:lnSpc>
            </a:pPr>
            <a:r>
              <a:rPr lang="en-US" b="true" sz="3000" spc="42">
                <a:solidFill>
                  <a:srgbClr val="F8D4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16,719 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264048" y="3148827"/>
            <a:ext cx="480792" cy="429708"/>
          </a:xfrm>
          <a:custGeom>
            <a:avLst/>
            <a:gdLst/>
            <a:ahLst/>
            <a:cxnLst/>
            <a:rect r="r" b="b" t="t" l="l"/>
            <a:pathLst>
              <a:path h="429708" w="480792">
                <a:moveTo>
                  <a:pt x="0" y="0"/>
                </a:moveTo>
                <a:lnTo>
                  <a:pt x="480792" y="0"/>
                </a:lnTo>
                <a:lnTo>
                  <a:pt x="480792" y="429708"/>
                </a:lnTo>
                <a:lnTo>
                  <a:pt x="0" y="4297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54636" y="2945397"/>
            <a:ext cx="783356" cy="365240"/>
          </a:xfrm>
          <a:custGeom>
            <a:avLst/>
            <a:gdLst/>
            <a:ahLst/>
            <a:cxnLst/>
            <a:rect r="r" b="b" t="t" l="l"/>
            <a:pathLst>
              <a:path h="365240" w="783356">
                <a:moveTo>
                  <a:pt x="0" y="0"/>
                </a:moveTo>
                <a:lnTo>
                  <a:pt x="783356" y="0"/>
                </a:lnTo>
                <a:lnTo>
                  <a:pt x="783356" y="365239"/>
                </a:lnTo>
                <a:lnTo>
                  <a:pt x="0" y="3652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21304" y="607060"/>
            <a:ext cx="13142525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9"/>
              </a:lnSpc>
              <a:spcBef>
                <a:spcPct val="0"/>
              </a:spcBef>
            </a:pPr>
            <a:r>
              <a:rPr lang="en-US" sz="4299" spc="-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Detalles de la Base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64086" y="2045024"/>
            <a:ext cx="5127692" cy="200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b="true" sz="3000" spc="4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Ventas Globales:</a:t>
            </a:r>
          </a:p>
          <a:p>
            <a:pPr algn="ctr">
              <a:lnSpc>
                <a:spcPts val="3390"/>
              </a:lnSpc>
            </a:pPr>
          </a:p>
          <a:p>
            <a:pPr algn="ctr">
              <a:lnSpc>
                <a:spcPts val="3390"/>
              </a:lnSpc>
            </a:pPr>
            <a:r>
              <a:rPr lang="en-US" b="true" sz="3000" spc="42">
                <a:solidFill>
                  <a:srgbClr val="F8D4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 /millones</a:t>
            </a:r>
          </a:p>
          <a:p>
            <a:pPr algn="ctr">
              <a:lnSpc>
                <a:spcPts val="1920"/>
              </a:lnSpc>
            </a:pP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20032" y="8362714"/>
            <a:ext cx="8417827" cy="55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586">
                <a:solidFill>
                  <a:srgbClr val="F7E96F"/>
                </a:solidFill>
                <a:latin typeface="Arimo"/>
                <a:ea typeface="Arimo"/>
                <a:cs typeface="Arimo"/>
                <a:sym typeface="Arimo"/>
              </a:rPr>
              <a:t>https://www.kaggle.com/datasets/rush4ratio/video-game-sales-with-ratings/data</a:t>
            </a:r>
          </a:p>
          <a:p>
            <a:pPr algn="ctr">
              <a:lnSpc>
                <a:spcPts val="22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507" y="1415905"/>
            <a:ext cx="7690592" cy="8580856"/>
          </a:xfrm>
          <a:custGeom>
            <a:avLst/>
            <a:gdLst/>
            <a:ahLst/>
            <a:cxnLst/>
            <a:rect r="r" b="b" t="t" l="l"/>
            <a:pathLst>
              <a:path h="8580856" w="7690592">
                <a:moveTo>
                  <a:pt x="0" y="0"/>
                </a:moveTo>
                <a:lnTo>
                  <a:pt x="7690592" y="0"/>
                </a:lnTo>
                <a:lnTo>
                  <a:pt x="7690592" y="8580856"/>
                </a:lnTo>
                <a:lnTo>
                  <a:pt x="0" y="8580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3688" y="1877951"/>
            <a:ext cx="6454230" cy="4489674"/>
          </a:xfrm>
          <a:custGeom>
            <a:avLst/>
            <a:gdLst/>
            <a:ahLst/>
            <a:cxnLst/>
            <a:rect r="r" b="b" t="t" l="l"/>
            <a:pathLst>
              <a:path h="4489674" w="6454230">
                <a:moveTo>
                  <a:pt x="0" y="0"/>
                </a:moveTo>
                <a:lnTo>
                  <a:pt x="6454230" y="0"/>
                </a:lnTo>
                <a:lnTo>
                  <a:pt x="6454230" y="4489674"/>
                </a:lnTo>
                <a:lnTo>
                  <a:pt x="0" y="44896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5087" b="-3229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22101" y="8718267"/>
            <a:ext cx="571629" cy="578133"/>
          </a:xfrm>
          <a:custGeom>
            <a:avLst/>
            <a:gdLst/>
            <a:ahLst/>
            <a:cxnLst/>
            <a:rect r="r" b="b" t="t" l="l"/>
            <a:pathLst>
              <a:path h="578133" w="571629">
                <a:moveTo>
                  <a:pt x="0" y="0"/>
                </a:moveTo>
                <a:lnTo>
                  <a:pt x="571630" y="0"/>
                </a:lnTo>
                <a:lnTo>
                  <a:pt x="571630" y="578133"/>
                </a:lnTo>
                <a:lnTo>
                  <a:pt x="0" y="578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17188" y="8680167"/>
            <a:ext cx="621459" cy="578133"/>
          </a:xfrm>
          <a:custGeom>
            <a:avLst/>
            <a:gdLst/>
            <a:ahLst/>
            <a:cxnLst/>
            <a:rect r="r" b="b" t="t" l="l"/>
            <a:pathLst>
              <a:path h="578133" w="621459">
                <a:moveTo>
                  <a:pt x="0" y="0"/>
                </a:moveTo>
                <a:lnTo>
                  <a:pt x="621460" y="0"/>
                </a:lnTo>
                <a:lnTo>
                  <a:pt x="621460" y="578133"/>
                </a:lnTo>
                <a:lnTo>
                  <a:pt x="0" y="5781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017" t="-5906" r="0" b="-590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21635" y="2493994"/>
            <a:ext cx="4112924" cy="1140412"/>
          </a:xfrm>
          <a:custGeom>
            <a:avLst/>
            <a:gdLst/>
            <a:ahLst/>
            <a:cxnLst/>
            <a:rect r="r" b="b" t="t" l="l"/>
            <a:pathLst>
              <a:path h="1140412" w="4112924">
                <a:moveTo>
                  <a:pt x="0" y="0"/>
                </a:moveTo>
                <a:lnTo>
                  <a:pt x="4112924" y="0"/>
                </a:lnTo>
                <a:lnTo>
                  <a:pt x="4112924" y="1140412"/>
                </a:lnTo>
                <a:lnTo>
                  <a:pt x="0" y="11404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774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47757" y="5959487"/>
            <a:ext cx="4112924" cy="1140412"/>
          </a:xfrm>
          <a:custGeom>
            <a:avLst/>
            <a:gdLst/>
            <a:ahLst/>
            <a:cxnLst/>
            <a:rect r="r" b="b" t="t" l="l"/>
            <a:pathLst>
              <a:path h="1140412" w="4112924">
                <a:moveTo>
                  <a:pt x="0" y="0"/>
                </a:moveTo>
                <a:lnTo>
                  <a:pt x="4112924" y="0"/>
                </a:lnTo>
                <a:lnTo>
                  <a:pt x="4112924" y="1140412"/>
                </a:lnTo>
                <a:lnTo>
                  <a:pt x="0" y="11404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774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61319" y="8680167"/>
            <a:ext cx="621459" cy="578133"/>
          </a:xfrm>
          <a:custGeom>
            <a:avLst/>
            <a:gdLst/>
            <a:ahLst/>
            <a:cxnLst/>
            <a:rect r="r" b="b" t="t" l="l"/>
            <a:pathLst>
              <a:path h="578133" w="621459">
                <a:moveTo>
                  <a:pt x="0" y="0"/>
                </a:moveTo>
                <a:lnTo>
                  <a:pt x="621459" y="0"/>
                </a:lnTo>
                <a:lnTo>
                  <a:pt x="621459" y="578133"/>
                </a:lnTo>
                <a:lnTo>
                  <a:pt x="0" y="5781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017" t="-5906" r="0" b="-590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9773" y="8718267"/>
            <a:ext cx="571629" cy="578133"/>
          </a:xfrm>
          <a:custGeom>
            <a:avLst/>
            <a:gdLst/>
            <a:ahLst/>
            <a:cxnLst/>
            <a:rect r="r" b="b" t="t" l="l"/>
            <a:pathLst>
              <a:path h="578133" w="571629">
                <a:moveTo>
                  <a:pt x="0" y="0"/>
                </a:moveTo>
                <a:lnTo>
                  <a:pt x="571629" y="0"/>
                </a:lnTo>
                <a:lnTo>
                  <a:pt x="571629" y="578133"/>
                </a:lnTo>
                <a:lnTo>
                  <a:pt x="0" y="578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96356" y="4226741"/>
            <a:ext cx="4112924" cy="1140412"/>
          </a:xfrm>
          <a:custGeom>
            <a:avLst/>
            <a:gdLst/>
            <a:ahLst/>
            <a:cxnLst/>
            <a:rect r="r" b="b" t="t" l="l"/>
            <a:pathLst>
              <a:path h="1140412" w="4112924">
                <a:moveTo>
                  <a:pt x="0" y="0"/>
                </a:moveTo>
                <a:lnTo>
                  <a:pt x="4112924" y="0"/>
                </a:lnTo>
                <a:lnTo>
                  <a:pt x="4112924" y="1140411"/>
                </a:lnTo>
                <a:lnTo>
                  <a:pt x="0" y="11404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774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19305" y="263528"/>
            <a:ext cx="9941376" cy="808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1"/>
              </a:lnSpc>
              <a:spcBef>
                <a:spcPct val="0"/>
              </a:spcBef>
            </a:pPr>
            <a:r>
              <a:rPr lang="en-US" b="true" sz="4715" i="true" spc="70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TRANSFORMACIONES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36118" y="2771249"/>
            <a:ext cx="2688895" cy="54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7"/>
              </a:lnSpc>
              <a:spcBef>
                <a:spcPct val="0"/>
              </a:spcBef>
            </a:pPr>
            <a:r>
              <a:rPr lang="en-US" b="true" sz="1873" spc="26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Ajuste de formatos</a:t>
            </a:r>
            <a:r>
              <a:rPr lang="en-US" b="true" sz="1873" spc="26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​:</a:t>
            </a:r>
          </a:p>
          <a:p>
            <a:pPr algn="ctr">
              <a:lnSpc>
                <a:spcPts val="2117"/>
              </a:lnSpc>
              <a:spcBef>
                <a:spcPct val="0"/>
              </a:spcBef>
            </a:pPr>
            <a:r>
              <a:rPr lang="en-US" b="true" sz="1873" spc="26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Año, Puntuaciones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12487" y="5967227"/>
            <a:ext cx="3383464" cy="8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7"/>
              </a:lnSpc>
              <a:spcBef>
                <a:spcPct val="0"/>
              </a:spcBef>
            </a:pPr>
          </a:p>
          <a:p>
            <a:pPr algn="ctr">
              <a:lnSpc>
                <a:spcPts val="2117"/>
              </a:lnSpc>
              <a:spcBef>
                <a:spcPct val="0"/>
              </a:spcBef>
            </a:pPr>
            <a:r>
              <a:rPr lang="en-US" b="true" sz="1873" spc="26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Agrupaciones: Juegos multiplataforma​s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00307" y="4065450"/>
            <a:ext cx="3705022" cy="107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7"/>
              </a:lnSpc>
              <a:spcBef>
                <a:spcPct val="0"/>
              </a:spcBef>
            </a:pPr>
          </a:p>
          <a:p>
            <a:pPr algn="ctr">
              <a:lnSpc>
                <a:spcPts val="2117"/>
              </a:lnSpc>
              <a:spcBef>
                <a:spcPct val="0"/>
              </a:spcBef>
            </a:pPr>
            <a:r>
              <a:rPr lang="en-US" b="true" sz="1873" spc="26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Manejo de valores nulos:</a:t>
            </a:r>
          </a:p>
          <a:p>
            <a:pPr algn="ctr">
              <a:lnSpc>
                <a:spcPts val="2117"/>
              </a:lnSpc>
              <a:spcBef>
                <a:spcPct val="0"/>
              </a:spcBef>
            </a:pPr>
            <a:r>
              <a:rPr lang="en-US" b="true" sz="1873" spc="26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Puntuaciones (40%), Nombres (0,5%), Año (1,5%)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784074" y="9181306"/>
            <a:ext cx="8503926" cy="1105694"/>
          </a:xfrm>
          <a:custGeom>
            <a:avLst/>
            <a:gdLst/>
            <a:ahLst/>
            <a:cxnLst/>
            <a:rect r="r" b="b" t="t" l="l"/>
            <a:pathLst>
              <a:path h="1105694" w="8503926">
                <a:moveTo>
                  <a:pt x="0" y="0"/>
                </a:moveTo>
                <a:lnTo>
                  <a:pt x="8503926" y="0"/>
                </a:lnTo>
                <a:lnTo>
                  <a:pt x="8503926" y="1105694"/>
                </a:lnTo>
                <a:lnTo>
                  <a:pt x="0" y="110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1548" b="-46337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8503926" cy="1105694"/>
          </a:xfrm>
          <a:custGeom>
            <a:avLst/>
            <a:gdLst/>
            <a:ahLst/>
            <a:cxnLst/>
            <a:rect r="r" b="b" t="t" l="l"/>
            <a:pathLst>
              <a:path h="1105694" w="8503926">
                <a:moveTo>
                  <a:pt x="0" y="0"/>
                </a:moveTo>
                <a:lnTo>
                  <a:pt x="8503926" y="0"/>
                </a:lnTo>
                <a:lnTo>
                  <a:pt x="8503926" y="1105694"/>
                </a:lnTo>
                <a:lnTo>
                  <a:pt x="0" y="110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1548" b="-46337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03913" y="0"/>
            <a:ext cx="9884087" cy="241720"/>
            <a:chOff x="0" y="0"/>
            <a:chExt cx="7960771" cy="194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60771" cy="194684"/>
            </a:xfrm>
            <a:custGeom>
              <a:avLst/>
              <a:gdLst/>
              <a:ahLst/>
              <a:cxnLst/>
              <a:rect r="r" b="b" t="t" l="l"/>
              <a:pathLst>
                <a:path h="194684" w="7960771">
                  <a:moveTo>
                    <a:pt x="0" y="0"/>
                  </a:moveTo>
                  <a:lnTo>
                    <a:pt x="7960771" y="0"/>
                  </a:lnTo>
                  <a:lnTo>
                    <a:pt x="7960771" y="194684"/>
                  </a:lnTo>
                  <a:lnTo>
                    <a:pt x="0" y="194684"/>
                  </a:lnTo>
                  <a:close/>
                </a:path>
              </a:pathLst>
            </a:custGeom>
            <a:solidFill>
              <a:srgbClr val="00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0045280"/>
            <a:ext cx="9884087" cy="241720"/>
            <a:chOff x="0" y="0"/>
            <a:chExt cx="7960771" cy="1946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0771" cy="194684"/>
            </a:xfrm>
            <a:custGeom>
              <a:avLst/>
              <a:gdLst/>
              <a:ahLst/>
              <a:cxnLst/>
              <a:rect r="r" b="b" t="t" l="l"/>
              <a:pathLst>
                <a:path h="194684" w="7960771">
                  <a:moveTo>
                    <a:pt x="0" y="0"/>
                  </a:moveTo>
                  <a:lnTo>
                    <a:pt x="7960771" y="0"/>
                  </a:lnTo>
                  <a:lnTo>
                    <a:pt x="7960771" y="194684"/>
                  </a:lnTo>
                  <a:lnTo>
                    <a:pt x="0" y="194684"/>
                  </a:lnTo>
                  <a:close/>
                </a:path>
              </a:pathLst>
            </a:custGeom>
            <a:solidFill>
              <a:srgbClr val="00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045398" y="2261537"/>
            <a:ext cx="8601117" cy="6416706"/>
          </a:xfrm>
          <a:custGeom>
            <a:avLst/>
            <a:gdLst/>
            <a:ahLst/>
            <a:cxnLst/>
            <a:rect r="r" b="b" t="t" l="l"/>
            <a:pathLst>
              <a:path h="6416706" w="8601117">
                <a:moveTo>
                  <a:pt x="0" y="0"/>
                </a:moveTo>
                <a:lnTo>
                  <a:pt x="8601117" y="0"/>
                </a:lnTo>
                <a:lnTo>
                  <a:pt x="8601117" y="6416706"/>
                </a:lnTo>
                <a:lnTo>
                  <a:pt x="0" y="6416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13862" y="2421691"/>
            <a:ext cx="6112631" cy="6307593"/>
          </a:xfrm>
          <a:custGeom>
            <a:avLst/>
            <a:gdLst/>
            <a:ahLst/>
            <a:cxnLst/>
            <a:rect r="r" b="b" t="t" l="l"/>
            <a:pathLst>
              <a:path h="6307593" w="6112631">
                <a:moveTo>
                  <a:pt x="0" y="0"/>
                </a:moveTo>
                <a:lnTo>
                  <a:pt x="6112631" y="0"/>
                </a:lnTo>
                <a:lnTo>
                  <a:pt x="6112631" y="6307593"/>
                </a:lnTo>
                <a:lnTo>
                  <a:pt x="0" y="6307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8802" y="1010444"/>
            <a:ext cx="17769198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b="true" sz="4300" i="true" spc="64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EVOLUCIÓN DE LAS VENTAS GLOBALES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74701" y="7512458"/>
            <a:ext cx="1979160" cy="40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  <a:spcBef>
                <a:spcPct val="0"/>
              </a:spcBef>
            </a:pPr>
            <a:r>
              <a:rPr lang="en-US" b="true" sz="2763" spc="38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1980-1994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69926" y="6199081"/>
            <a:ext cx="2352182" cy="69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443" spc="34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Crecimiento moderado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2613" y="2626633"/>
            <a:ext cx="5435128" cy="173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b="true" sz="2420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Juegos: Super Mario Bros.,Tetris, Duck hunt</a:t>
            </a:r>
          </a:p>
          <a:p>
            <a:pPr algn="ctr">
              <a:lnSpc>
                <a:spcPts val="2735"/>
              </a:lnSpc>
            </a:pPr>
            <a:r>
              <a:rPr lang="en-US" b="true" sz="2420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Plataformas: NES, Sega Genesis, Atari 2600</a:t>
            </a:r>
          </a:p>
          <a:p>
            <a:pPr algn="ctr">
              <a:lnSpc>
                <a:spcPts val="2735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854718" y="4683218"/>
            <a:ext cx="3811868" cy="67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b="true" sz="2395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Transición Arcades</a:t>
            </a:r>
          </a:p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b="true" sz="2395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Tecnología limitada (2D)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526795" y="6530454"/>
            <a:ext cx="2605395" cy="1527413"/>
          </a:xfrm>
          <a:custGeom>
            <a:avLst/>
            <a:gdLst/>
            <a:ahLst/>
            <a:cxnLst/>
            <a:rect r="r" b="b" t="t" l="l"/>
            <a:pathLst>
              <a:path h="1527413" w="2605395">
                <a:moveTo>
                  <a:pt x="0" y="0"/>
                </a:moveTo>
                <a:lnTo>
                  <a:pt x="2605394" y="0"/>
                </a:lnTo>
                <a:lnTo>
                  <a:pt x="2605394" y="1527413"/>
                </a:lnTo>
                <a:lnTo>
                  <a:pt x="0" y="15274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784074" y="9181306"/>
            <a:ext cx="8503926" cy="1105694"/>
          </a:xfrm>
          <a:custGeom>
            <a:avLst/>
            <a:gdLst/>
            <a:ahLst/>
            <a:cxnLst/>
            <a:rect r="r" b="b" t="t" l="l"/>
            <a:pathLst>
              <a:path h="1105694" w="8503926">
                <a:moveTo>
                  <a:pt x="0" y="0"/>
                </a:moveTo>
                <a:lnTo>
                  <a:pt x="8503926" y="0"/>
                </a:lnTo>
                <a:lnTo>
                  <a:pt x="8503926" y="1105694"/>
                </a:lnTo>
                <a:lnTo>
                  <a:pt x="0" y="110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1548" b="-46337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8503926" cy="1105694"/>
          </a:xfrm>
          <a:custGeom>
            <a:avLst/>
            <a:gdLst/>
            <a:ahLst/>
            <a:cxnLst/>
            <a:rect r="r" b="b" t="t" l="l"/>
            <a:pathLst>
              <a:path h="1105694" w="8503926">
                <a:moveTo>
                  <a:pt x="0" y="0"/>
                </a:moveTo>
                <a:lnTo>
                  <a:pt x="8503926" y="0"/>
                </a:lnTo>
                <a:lnTo>
                  <a:pt x="8503926" y="1105694"/>
                </a:lnTo>
                <a:lnTo>
                  <a:pt x="0" y="110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1548" b="-46337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03913" y="0"/>
            <a:ext cx="9884087" cy="241720"/>
            <a:chOff x="0" y="0"/>
            <a:chExt cx="7960771" cy="194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60771" cy="194684"/>
            </a:xfrm>
            <a:custGeom>
              <a:avLst/>
              <a:gdLst/>
              <a:ahLst/>
              <a:cxnLst/>
              <a:rect r="r" b="b" t="t" l="l"/>
              <a:pathLst>
                <a:path h="194684" w="7960771">
                  <a:moveTo>
                    <a:pt x="0" y="0"/>
                  </a:moveTo>
                  <a:lnTo>
                    <a:pt x="7960771" y="0"/>
                  </a:lnTo>
                  <a:lnTo>
                    <a:pt x="7960771" y="194684"/>
                  </a:lnTo>
                  <a:lnTo>
                    <a:pt x="0" y="194684"/>
                  </a:lnTo>
                  <a:close/>
                </a:path>
              </a:pathLst>
            </a:custGeom>
            <a:solidFill>
              <a:srgbClr val="00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0045280"/>
            <a:ext cx="9884087" cy="241720"/>
            <a:chOff x="0" y="0"/>
            <a:chExt cx="7960771" cy="1946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0771" cy="194684"/>
            </a:xfrm>
            <a:custGeom>
              <a:avLst/>
              <a:gdLst/>
              <a:ahLst/>
              <a:cxnLst/>
              <a:rect r="r" b="b" t="t" l="l"/>
              <a:pathLst>
                <a:path h="194684" w="7960771">
                  <a:moveTo>
                    <a:pt x="0" y="0"/>
                  </a:moveTo>
                  <a:lnTo>
                    <a:pt x="7960771" y="0"/>
                  </a:lnTo>
                  <a:lnTo>
                    <a:pt x="7960771" y="194684"/>
                  </a:lnTo>
                  <a:lnTo>
                    <a:pt x="0" y="194684"/>
                  </a:lnTo>
                  <a:close/>
                </a:path>
              </a:pathLst>
            </a:custGeom>
            <a:solidFill>
              <a:srgbClr val="00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045398" y="2261537"/>
            <a:ext cx="8601117" cy="6416706"/>
          </a:xfrm>
          <a:custGeom>
            <a:avLst/>
            <a:gdLst/>
            <a:ahLst/>
            <a:cxnLst/>
            <a:rect r="r" b="b" t="t" l="l"/>
            <a:pathLst>
              <a:path h="6416706" w="8601117">
                <a:moveTo>
                  <a:pt x="0" y="0"/>
                </a:moveTo>
                <a:lnTo>
                  <a:pt x="8601117" y="0"/>
                </a:lnTo>
                <a:lnTo>
                  <a:pt x="8601117" y="6416706"/>
                </a:lnTo>
                <a:lnTo>
                  <a:pt x="0" y="6416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13862" y="2421691"/>
            <a:ext cx="6112631" cy="6307593"/>
          </a:xfrm>
          <a:custGeom>
            <a:avLst/>
            <a:gdLst/>
            <a:ahLst/>
            <a:cxnLst/>
            <a:rect r="r" b="b" t="t" l="l"/>
            <a:pathLst>
              <a:path h="6307593" w="6112631">
                <a:moveTo>
                  <a:pt x="0" y="0"/>
                </a:moveTo>
                <a:lnTo>
                  <a:pt x="6112631" y="0"/>
                </a:lnTo>
                <a:lnTo>
                  <a:pt x="6112631" y="6307593"/>
                </a:lnTo>
                <a:lnTo>
                  <a:pt x="0" y="6307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8802" y="1010444"/>
            <a:ext cx="17769198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b="true" sz="4300" i="true" spc="64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EVOLUCIÓN DE LAS VENTAS GLOBALES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98501" y="7486959"/>
            <a:ext cx="2033889" cy="41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8"/>
              </a:lnSpc>
              <a:spcBef>
                <a:spcPct val="0"/>
              </a:spcBef>
            </a:pPr>
            <a:r>
              <a:rPr lang="en-US" b="true" sz="2839" spc="39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1995-2000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69926" y="6237181"/>
            <a:ext cx="2347780" cy="68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5"/>
              </a:lnSpc>
              <a:spcBef>
                <a:spcPct val="0"/>
              </a:spcBef>
            </a:pPr>
            <a:r>
              <a:rPr lang="en-US" b="true" sz="2438" spc="34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Crecimiento significativo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2613" y="2709450"/>
            <a:ext cx="5435128" cy="138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b="true" sz="2420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Juegos: Pokemon Red/Blue, Gran Turismo, Final Fantasy VII</a:t>
            </a:r>
          </a:p>
          <a:p>
            <a:pPr algn="ctr">
              <a:lnSpc>
                <a:spcPts val="2735"/>
              </a:lnSpc>
            </a:pPr>
            <a:r>
              <a:rPr lang="en-US" b="true" sz="2420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Plataformas: PS, N64, GB</a:t>
            </a:r>
          </a:p>
          <a:p>
            <a:pPr algn="ctr">
              <a:lnSpc>
                <a:spcPts val="2735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951226" y="4657215"/>
            <a:ext cx="3585181" cy="127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6"/>
              </a:lnSpc>
            </a:pPr>
            <a:r>
              <a:rPr lang="en-US" b="true" sz="2253" spc="31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Consolas 32-bit </a:t>
            </a:r>
          </a:p>
          <a:p>
            <a:pPr algn="ctr">
              <a:lnSpc>
                <a:spcPts val="2546"/>
              </a:lnSpc>
            </a:pPr>
            <a:r>
              <a:rPr lang="en-US" b="true" sz="2253" spc="31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Mejora calidad gráfica y experiencia</a:t>
            </a:r>
          </a:p>
          <a:p>
            <a:pPr algn="ctr">
              <a:lnSpc>
                <a:spcPts val="2546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367130" y="5283429"/>
            <a:ext cx="2605395" cy="1527413"/>
          </a:xfrm>
          <a:custGeom>
            <a:avLst/>
            <a:gdLst/>
            <a:ahLst/>
            <a:cxnLst/>
            <a:rect r="r" b="b" t="t" l="l"/>
            <a:pathLst>
              <a:path h="1527413" w="2605395">
                <a:moveTo>
                  <a:pt x="0" y="0"/>
                </a:moveTo>
                <a:lnTo>
                  <a:pt x="2605394" y="0"/>
                </a:lnTo>
                <a:lnTo>
                  <a:pt x="2605394" y="1527413"/>
                </a:lnTo>
                <a:lnTo>
                  <a:pt x="0" y="15274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784074" y="9181306"/>
            <a:ext cx="8503926" cy="1105694"/>
          </a:xfrm>
          <a:custGeom>
            <a:avLst/>
            <a:gdLst/>
            <a:ahLst/>
            <a:cxnLst/>
            <a:rect r="r" b="b" t="t" l="l"/>
            <a:pathLst>
              <a:path h="1105694" w="8503926">
                <a:moveTo>
                  <a:pt x="0" y="0"/>
                </a:moveTo>
                <a:lnTo>
                  <a:pt x="8503926" y="0"/>
                </a:lnTo>
                <a:lnTo>
                  <a:pt x="8503926" y="1105694"/>
                </a:lnTo>
                <a:lnTo>
                  <a:pt x="0" y="110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1548" b="-46337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8503926" cy="1105694"/>
          </a:xfrm>
          <a:custGeom>
            <a:avLst/>
            <a:gdLst/>
            <a:ahLst/>
            <a:cxnLst/>
            <a:rect r="r" b="b" t="t" l="l"/>
            <a:pathLst>
              <a:path h="1105694" w="8503926">
                <a:moveTo>
                  <a:pt x="0" y="0"/>
                </a:moveTo>
                <a:lnTo>
                  <a:pt x="8503926" y="0"/>
                </a:lnTo>
                <a:lnTo>
                  <a:pt x="8503926" y="1105694"/>
                </a:lnTo>
                <a:lnTo>
                  <a:pt x="0" y="110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1548" b="-46337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03913" y="0"/>
            <a:ext cx="9884087" cy="241720"/>
            <a:chOff x="0" y="0"/>
            <a:chExt cx="7960771" cy="194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60771" cy="194684"/>
            </a:xfrm>
            <a:custGeom>
              <a:avLst/>
              <a:gdLst/>
              <a:ahLst/>
              <a:cxnLst/>
              <a:rect r="r" b="b" t="t" l="l"/>
              <a:pathLst>
                <a:path h="194684" w="7960771">
                  <a:moveTo>
                    <a:pt x="0" y="0"/>
                  </a:moveTo>
                  <a:lnTo>
                    <a:pt x="7960771" y="0"/>
                  </a:lnTo>
                  <a:lnTo>
                    <a:pt x="7960771" y="194684"/>
                  </a:lnTo>
                  <a:lnTo>
                    <a:pt x="0" y="194684"/>
                  </a:lnTo>
                  <a:close/>
                </a:path>
              </a:pathLst>
            </a:custGeom>
            <a:solidFill>
              <a:srgbClr val="00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0045280"/>
            <a:ext cx="9884087" cy="241720"/>
            <a:chOff x="0" y="0"/>
            <a:chExt cx="7960771" cy="1946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0771" cy="194684"/>
            </a:xfrm>
            <a:custGeom>
              <a:avLst/>
              <a:gdLst/>
              <a:ahLst/>
              <a:cxnLst/>
              <a:rect r="r" b="b" t="t" l="l"/>
              <a:pathLst>
                <a:path h="194684" w="7960771">
                  <a:moveTo>
                    <a:pt x="0" y="0"/>
                  </a:moveTo>
                  <a:lnTo>
                    <a:pt x="7960771" y="0"/>
                  </a:lnTo>
                  <a:lnTo>
                    <a:pt x="7960771" y="194684"/>
                  </a:lnTo>
                  <a:lnTo>
                    <a:pt x="0" y="194684"/>
                  </a:lnTo>
                  <a:close/>
                </a:path>
              </a:pathLst>
            </a:custGeom>
            <a:solidFill>
              <a:srgbClr val="00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045398" y="2261537"/>
            <a:ext cx="8601117" cy="6416706"/>
          </a:xfrm>
          <a:custGeom>
            <a:avLst/>
            <a:gdLst/>
            <a:ahLst/>
            <a:cxnLst/>
            <a:rect r="r" b="b" t="t" l="l"/>
            <a:pathLst>
              <a:path h="6416706" w="8601117">
                <a:moveTo>
                  <a:pt x="0" y="0"/>
                </a:moveTo>
                <a:lnTo>
                  <a:pt x="8601117" y="0"/>
                </a:lnTo>
                <a:lnTo>
                  <a:pt x="8601117" y="6416706"/>
                </a:lnTo>
                <a:lnTo>
                  <a:pt x="0" y="6416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13862" y="2421691"/>
            <a:ext cx="6112631" cy="6307593"/>
          </a:xfrm>
          <a:custGeom>
            <a:avLst/>
            <a:gdLst/>
            <a:ahLst/>
            <a:cxnLst/>
            <a:rect r="r" b="b" t="t" l="l"/>
            <a:pathLst>
              <a:path h="6307593" w="6112631">
                <a:moveTo>
                  <a:pt x="0" y="0"/>
                </a:moveTo>
                <a:lnTo>
                  <a:pt x="6112631" y="0"/>
                </a:lnTo>
                <a:lnTo>
                  <a:pt x="6112631" y="6307593"/>
                </a:lnTo>
                <a:lnTo>
                  <a:pt x="0" y="6307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8802" y="1010444"/>
            <a:ext cx="17769198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b="true" sz="4300" i="true" spc="64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EVOLUCIÓN DE LAS VENTAS GLOBALES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17114" y="7511401"/>
            <a:ext cx="2079050" cy="41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9"/>
              </a:lnSpc>
              <a:spcBef>
                <a:spcPct val="0"/>
              </a:spcBef>
            </a:pPr>
            <a:r>
              <a:rPr lang="en-US" b="true" sz="2902" spc="40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2001-2007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08970" y="6132406"/>
            <a:ext cx="2522414" cy="76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  <a:spcBef>
                <a:spcPct val="0"/>
              </a:spcBef>
            </a:pPr>
            <a:r>
              <a:rPr lang="en-US" b="true" sz="2620" spc="36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Crecimiento explosivo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2613" y="2687828"/>
            <a:ext cx="5435128" cy="173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b="true" sz="2420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Juegos: Wii Sports, GTA : San Andreas, Call of Duty 4: Modern Warfare</a:t>
            </a:r>
          </a:p>
          <a:p>
            <a:pPr algn="ctr">
              <a:lnSpc>
                <a:spcPts val="2735"/>
              </a:lnSpc>
            </a:pPr>
            <a:r>
              <a:rPr lang="en-US" b="true" sz="2420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Plataformas: PS2, Wii, NDS</a:t>
            </a:r>
          </a:p>
          <a:p>
            <a:pPr algn="ctr">
              <a:lnSpc>
                <a:spcPts val="2735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790017" y="4604571"/>
            <a:ext cx="3832992" cy="129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b="true" sz="2294" spc="32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Consolas 64-bit, mejores gráficos y rendimiento</a:t>
            </a:r>
          </a:p>
          <a:p>
            <a:pPr algn="ctr">
              <a:lnSpc>
                <a:spcPts val="2592"/>
              </a:lnSpc>
            </a:pPr>
            <a:r>
              <a:rPr lang="en-US" b="true" sz="2294" spc="32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Wii: Innovación</a:t>
            </a:r>
          </a:p>
          <a:p>
            <a:pPr algn="ctr">
              <a:lnSpc>
                <a:spcPts val="2592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562561" y="3243040"/>
            <a:ext cx="2516445" cy="1475266"/>
          </a:xfrm>
          <a:custGeom>
            <a:avLst/>
            <a:gdLst/>
            <a:ahLst/>
            <a:cxnLst/>
            <a:rect r="r" b="b" t="t" l="l"/>
            <a:pathLst>
              <a:path h="1475266" w="2516445">
                <a:moveTo>
                  <a:pt x="0" y="0"/>
                </a:moveTo>
                <a:lnTo>
                  <a:pt x="2516445" y="0"/>
                </a:lnTo>
                <a:lnTo>
                  <a:pt x="2516445" y="1475266"/>
                </a:lnTo>
                <a:lnTo>
                  <a:pt x="0" y="14752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784074" y="9181306"/>
            <a:ext cx="8503926" cy="1105694"/>
          </a:xfrm>
          <a:custGeom>
            <a:avLst/>
            <a:gdLst/>
            <a:ahLst/>
            <a:cxnLst/>
            <a:rect r="r" b="b" t="t" l="l"/>
            <a:pathLst>
              <a:path h="1105694" w="8503926">
                <a:moveTo>
                  <a:pt x="0" y="0"/>
                </a:moveTo>
                <a:lnTo>
                  <a:pt x="8503926" y="0"/>
                </a:lnTo>
                <a:lnTo>
                  <a:pt x="8503926" y="1105694"/>
                </a:lnTo>
                <a:lnTo>
                  <a:pt x="0" y="110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1548" b="-46337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8503926" cy="1105694"/>
          </a:xfrm>
          <a:custGeom>
            <a:avLst/>
            <a:gdLst/>
            <a:ahLst/>
            <a:cxnLst/>
            <a:rect r="r" b="b" t="t" l="l"/>
            <a:pathLst>
              <a:path h="1105694" w="8503926">
                <a:moveTo>
                  <a:pt x="0" y="0"/>
                </a:moveTo>
                <a:lnTo>
                  <a:pt x="8503926" y="0"/>
                </a:lnTo>
                <a:lnTo>
                  <a:pt x="8503926" y="1105694"/>
                </a:lnTo>
                <a:lnTo>
                  <a:pt x="0" y="110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1548" b="-46337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03913" y="0"/>
            <a:ext cx="9884087" cy="241720"/>
            <a:chOff x="0" y="0"/>
            <a:chExt cx="7960771" cy="194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60771" cy="194684"/>
            </a:xfrm>
            <a:custGeom>
              <a:avLst/>
              <a:gdLst/>
              <a:ahLst/>
              <a:cxnLst/>
              <a:rect r="r" b="b" t="t" l="l"/>
              <a:pathLst>
                <a:path h="194684" w="7960771">
                  <a:moveTo>
                    <a:pt x="0" y="0"/>
                  </a:moveTo>
                  <a:lnTo>
                    <a:pt x="7960771" y="0"/>
                  </a:lnTo>
                  <a:lnTo>
                    <a:pt x="7960771" y="194684"/>
                  </a:lnTo>
                  <a:lnTo>
                    <a:pt x="0" y="194684"/>
                  </a:lnTo>
                  <a:close/>
                </a:path>
              </a:pathLst>
            </a:custGeom>
            <a:solidFill>
              <a:srgbClr val="00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10045280"/>
            <a:ext cx="9884087" cy="241720"/>
            <a:chOff x="0" y="0"/>
            <a:chExt cx="7960771" cy="1946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60771" cy="194684"/>
            </a:xfrm>
            <a:custGeom>
              <a:avLst/>
              <a:gdLst/>
              <a:ahLst/>
              <a:cxnLst/>
              <a:rect r="r" b="b" t="t" l="l"/>
              <a:pathLst>
                <a:path h="194684" w="7960771">
                  <a:moveTo>
                    <a:pt x="0" y="0"/>
                  </a:moveTo>
                  <a:lnTo>
                    <a:pt x="7960771" y="0"/>
                  </a:lnTo>
                  <a:lnTo>
                    <a:pt x="7960771" y="194684"/>
                  </a:lnTo>
                  <a:lnTo>
                    <a:pt x="0" y="194684"/>
                  </a:lnTo>
                  <a:close/>
                </a:path>
              </a:pathLst>
            </a:custGeom>
            <a:solidFill>
              <a:srgbClr val="00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045398" y="2261537"/>
            <a:ext cx="8601117" cy="6416706"/>
          </a:xfrm>
          <a:custGeom>
            <a:avLst/>
            <a:gdLst/>
            <a:ahLst/>
            <a:cxnLst/>
            <a:rect r="r" b="b" t="t" l="l"/>
            <a:pathLst>
              <a:path h="6416706" w="8601117">
                <a:moveTo>
                  <a:pt x="0" y="0"/>
                </a:moveTo>
                <a:lnTo>
                  <a:pt x="8601117" y="0"/>
                </a:lnTo>
                <a:lnTo>
                  <a:pt x="8601117" y="6416706"/>
                </a:lnTo>
                <a:lnTo>
                  <a:pt x="0" y="6416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13862" y="2421691"/>
            <a:ext cx="6112631" cy="6307593"/>
          </a:xfrm>
          <a:custGeom>
            <a:avLst/>
            <a:gdLst/>
            <a:ahLst/>
            <a:cxnLst/>
            <a:rect r="r" b="b" t="t" l="l"/>
            <a:pathLst>
              <a:path h="6307593" w="6112631">
                <a:moveTo>
                  <a:pt x="0" y="0"/>
                </a:moveTo>
                <a:lnTo>
                  <a:pt x="6112631" y="0"/>
                </a:lnTo>
                <a:lnTo>
                  <a:pt x="6112631" y="6307593"/>
                </a:lnTo>
                <a:lnTo>
                  <a:pt x="0" y="6307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8802" y="1010444"/>
            <a:ext cx="17769198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b="true" sz="4300" i="true" spc="64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EVOLUCIÓN DE LAS VENTAS GLOBALES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94768" y="7530096"/>
            <a:ext cx="1812676" cy="36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b="true" sz="2530" spc="35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2008-2016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45448" y="6167935"/>
            <a:ext cx="2249459" cy="67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336" spc="32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Fase de maduración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2613" y="2683783"/>
            <a:ext cx="5435128" cy="138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b="true" sz="2420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Juegos: GTA V, Mario Kart Wii, Call of Duty: Black Ops</a:t>
            </a:r>
          </a:p>
          <a:p>
            <a:pPr algn="ctr">
              <a:lnSpc>
                <a:spcPts val="2735"/>
              </a:lnSpc>
            </a:pPr>
            <a:r>
              <a:rPr lang="en-US" b="true" sz="2420" spc="33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Plataformas: PS3, Xbox360, Wii</a:t>
            </a:r>
          </a:p>
          <a:p>
            <a:pPr algn="ctr">
              <a:lnSpc>
                <a:spcPts val="2735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912688" y="4689422"/>
            <a:ext cx="3714979" cy="66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r>
              <a:rPr lang="en-US" b="true" sz="2334" spc="32">
                <a:solidFill>
                  <a:srgbClr val="020B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Servicios en línea (PSN, Xbox Live) 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261331" y="3616087"/>
            <a:ext cx="2605395" cy="1527413"/>
          </a:xfrm>
          <a:custGeom>
            <a:avLst/>
            <a:gdLst/>
            <a:ahLst/>
            <a:cxnLst/>
            <a:rect r="r" b="b" t="t" l="l"/>
            <a:pathLst>
              <a:path h="1527413" w="2605395">
                <a:moveTo>
                  <a:pt x="0" y="0"/>
                </a:moveTo>
                <a:lnTo>
                  <a:pt x="2605395" y="0"/>
                </a:lnTo>
                <a:lnTo>
                  <a:pt x="2605395" y="1527413"/>
                </a:lnTo>
                <a:lnTo>
                  <a:pt x="0" y="15274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6230" y="714854"/>
            <a:ext cx="17115540" cy="8857292"/>
          </a:xfrm>
          <a:custGeom>
            <a:avLst/>
            <a:gdLst/>
            <a:ahLst/>
            <a:cxnLst/>
            <a:rect r="r" b="b" t="t" l="l"/>
            <a:pathLst>
              <a:path h="8857292" w="17115540">
                <a:moveTo>
                  <a:pt x="0" y="0"/>
                </a:moveTo>
                <a:lnTo>
                  <a:pt x="17115540" y="0"/>
                </a:lnTo>
                <a:lnTo>
                  <a:pt x="17115540" y="8857292"/>
                </a:lnTo>
                <a:lnTo>
                  <a:pt x="0" y="88572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28665" y="1899279"/>
            <a:ext cx="917065" cy="917065"/>
          </a:xfrm>
          <a:custGeom>
            <a:avLst/>
            <a:gdLst/>
            <a:ahLst/>
            <a:cxnLst/>
            <a:rect r="r" b="b" t="t" l="l"/>
            <a:pathLst>
              <a:path h="917065" w="917065">
                <a:moveTo>
                  <a:pt x="0" y="0"/>
                </a:moveTo>
                <a:lnTo>
                  <a:pt x="917064" y="0"/>
                </a:lnTo>
                <a:lnTo>
                  <a:pt x="917064" y="917065"/>
                </a:lnTo>
                <a:lnTo>
                  <a:pt x="0" y="917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69904" y="1899279"/>
            <a:ext cx="917065" cy="917065"/>
          </a:xfrm>
          <a:custGeom>
            <a:avLst/>
            <a:gdLst/>
            <a:ahLst/>
            <a:cxnLst/>
            <a:rect r="r" b="b" t="t" l="l"/>
            <a:pathLst>
              <a:path h="917065" w="917065">
                <a:moveTo>
                  <a:pt x="0" y="0"/>
                </a:moveTo>
                <a:lnTo>
                  <a:pt x="917065" y="0"/>
                </a:lnTo>
                <a:lnTo>
                  <a:pt x="917065" y="917065"/>
                </a:lnTo>
                <a:lnTo>
                  <a:pt x="0" y="917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44491" y="3031467"/>
            <a:ext cx="10054504" cy="4989548"/>
          </a:xfrm>
          <a:custGeom>
            <a:avLst/>
            <a:gdLst/>
            <a:ahLst/>
            <a:cxnLst/>
            <a:rect r="r" b="b" t="t" l="l"/>
            <a:pathLst>
              <a:path h="4989548" w="10054504">
                <a:moveTo>
                  <a:pt x="0" y="0"/>
                </a:moveTo>
                <a:lnTo>
                  <a:pt x="10054504" y="0"/>
                </a:lnTo>
                <a:lnTo>
                  <a:pt x="10054504" y="4989548"/>
                </a:lnTo>
                <a:lnTo>
                  <a:pt x="0" y="49895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47625" cap="sq">
            <a:solidFill>
              <a:srgbClr val="020B27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145729" y="1927917"/>
            <a:ext cx="10678505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4400" i="true" spc="66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JUEGOS MÁS VENDIDOS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6230" y="832523"/>
            <a:ext cx="17115540" cy="8621953"/>
          </a:xfrm>
          <a:custGeom>
            <a:avLst/>
            <a:gdLst/>
            <a:ahLst/>
            <a:cxnLst/>
            <a:rect r="r" b="b" t="t" l="l"/>
            <a:pathLst>
              <a:path h="8621953" w="17115540">
                <a:moveTo>
                  <a:pt x="0" y="0"/>
                </a:moveTo>
                <a:lnTo>
                  <a:pt x="17115540" y="0"/>
                </a:lnTo>
                <a:lnTo>
                  <a:pt x="17115540" y="8621954"/>
                </a:lnTo>
                <a:lnTo>
                  <a:pt x="0" y="8621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72845" y="2464234"/>
            <a:ext cx="5657850" cy="565785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56862" y="1754758"/>
            <a:ext cx="17270502" cy="72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1"/>
              </a:lnSpc>
              <a:spcBef>
                <a:spcPct val="0"/>
              </a:spcBef>
            </a:pPr>
            <a:r>
              <a:rPr lang="en-US" b="true" sz="4179" i="true" spc="62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HIPÓTESIS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47743" y="2630426"/>
            <a:ext cx="12751946" cy="90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¿Han cambiado las preferencias de los géneros de videojuegos </a:t>
            </a:r>
          </a:p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lo largo del tiempo?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135016" y="3667033"/>
            <a:ext cx="9377400" cy="4676978"/>
          </a:xfrm>
          <a:custGeom>
            <a:avLst/>
            <a:gdLst/>
            <a:ahLst/>
            <a:cxnLst/>
            <a:rect r="r" b="b" t="t" l="l"/>
            <a:pathLst>
              <a:path h="4676978" w="9377400">
                <a:moveTo>
                  <a:pt x="0" y="0"/>
                </a:moveTo>
                <a:lnTo>
                  <a:pt x="9377400" y="0"/>
                </a:lnTo>
                <a:lnTo>
                  <a:pt x="9377400" y="4676978"/>
                </a:lnTo>
                <a:lnTo>
                  <a:pt x="0" y="4676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020B27"/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356417"/>
            <a:ext cx="18288000" cy="1930583"/>
          </a:xfrm>
          <a:custGeom>
            <a:avLst/>
            <a:gdLst/>
            <a:ahLst/>
            <a:cxnLst/>
            <a:rect r="r" b="b" t="t" l="l"/>
            <a:pathLst>
              <a:path h="1930583" w="18288000">
                <a:moveTo>
                  <a:pt x="0" y="0"/>
                </a:moveTo>
                <a:lnTo>
                  <a:pt x="18288000" y="0"/>
                </a:lnTo>
                <a:lnTo>
                  <a:pt x="18288000" y="1930583"/>
                </a:lnTo>
                <a:lnTo>
                  <a:pt x="0" y="19305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04031" r="0" b="-69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6023" y="-200025"/>
            <a:ext cx="16515953" cy="1681344"/>
          </a:xfrm>
          <a:custGeom>
            <a:avLst/>
            <a:gdLst/>
            <a:ahLst/>
            <a:cxnLst/>
            <a:rect r="r" b="b" t="t" l="l"/>
            <a:pathLst>
              <a:path h="1681344" w="16515953">
                <a:moveTo>
                  <a:pt x="0" y="0"/>
                </a:moveTo>
                <a:lnTo>
                  <a:pt x="16515954" y="0"/>
                </a:lnTo>
                <a:lnTo>
                  <a:pt x="16515954" y="1681344"/>
                </a:lnTo>
                <a:lnTo>
                  <a:pt x="0" y="1681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4298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89395" y="3531940"/>
            <a:ext cx="10109210" cy="5726360"/>
          </a:xfrm>
          <a:custGeom>
            <a:avLst/>
            <a:gdLst/>
            <a:ahLst/>
            <a:cxnLst/>
            <a:rect r="r" b="b" t="t" l="l"/>
            <a:pathLst>
              <a:path h="5726360" w="10109210">
                <a:moveTo>
                  <a:pt x="0" y="0"/>
                </a:moveTo>
                <a:lnTo>
                  <a:pt x="10109210" y="0"/>
                </a:lnTo>
                <a:lnTo>
                  <a:pt x="10109210" y="5726360"/>
                </a:lnTo>
                <a:lnTo>
                  <a:pt x="0" y="57263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2" r="0" b="-92"/>
            </a:stretch>
          </a:blipFill>
          <a:ln w="47625" cap="sq">
            <a:solidFill>
              <a:srgbClr val="020B27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056179" y="942975"/>
            <a:ext cx="17270502" cy="72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1"/>
              </a:lnSpc>
              <a:spcBef>
                <a:spcPct val="0"/>
              </a:spcBef>
            </a:pPr>
            <a:r>
              <a:rPr lang="en-US" b="true" sz="4179" i="true" spc="62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HIPÓTESIS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3646" y="2064526"/>
            <a:ext cx="14302044" cy="90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¿Existen diferencias significativas en los géneros más populares entre </a:t>
            </a:r>
          </a:p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Norteamérica, Europa y Japón?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3143669" y="7224676"/>
            <a:ext cx="11362708" cy="5681354"/>
          </a:xfrm>
          <a:custGeom>
            <a:avLst/>
            <a:gdLst/>
            <a:ahLst/>
            <a:cxnLst/>
            <a:rect r="r" b="b" t="t" l="l"/>
            <a:pathLst>
              <a:path h="5681354" w="11362708">
                <a:moveTo>
                  <a:pt x="0" y="0"/>
                </a:moveTo>
                <a:lnTo>
                  <a:pt x="11362709" y="0"/>
                </a:lnTo>
                <a:lnTo>
                  <a:pt x="11362709" y="5681354"/>
                </a:lnTo>
                <a:lnTo>
                  <a:pt x="0" y="5681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3239855" y="4266447"/>
            <a:ext cx="8177065" cy="915861"/>
          </a:xfrm>
          <a:custGeom>
            <a:avLst/>
            <a:gdLst/>
            <a:ahLst/>
            <a:cxnLst/>
            <a:rect r="r" b="b" t="t" l="l"/>
            <a:pathLst>
              <a:path h="915861" w="8177065">
                <a:moveTo>
                  <a:pt x="0" y="0"/>
                </a:moveTo>
                <a:lnTo>
                  <a:pt x="8177065" y="0"/>
                </a:lnTo>
                <a:lnTo>
                  <a:pt x="8177065" y="915861"/>
                </a:lnTo>
                <a:lnTo>
                  <a:pt x="0" y="915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37319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712837" y="4659302"/>
            <a:ext cx="8177065" cy="915861"/>
          </a:xfrm>
          <a:custGeom>
            <a:avLst/>
            <a:gdLst/>
            <a:ahLst/>
            <a:cxnLst/>
            <a:rect r="r" b="b" t="t" l="l"/>
            <a:pathLst>
              <a:path h="915861" w="8177065">
                <a:moveTo>
                  <a:pt x="0" y="0"/>
                </a:moveTo>
                <a:lnTo>
                  <a:pt x="8177065" y="0"/>
                </a:lnTo>
                <a:lnTo>
                  <a:pt x="8177065" y="915861"/>
                </a:lnTo>
                <a:lnTo>
                  <a:pt x="0" y="915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37319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43099" y="2393594"/>
            <a:ext cx="8963849" cy="6028189"/>
          </a:xfrm>
          <a:custGeom>
            <a:avLst/>
            <a:gdLst/>
            <a:ahLst/>
            <a:cxnLst/>
            <a:rect r="r" b="b" t="t" l="l"/>
            <a:pathLst>
              <a:path h="6028189" w="8963849">
                <a:moveTo>
                  <a:pt x="0" y="0"/>
                </a:moveTo>
                <a:lnTo>
                  <a:pt x="8963849" y="0"/>
                </a:lnTo>
                <a:lnTo>
                  <a:pt x="8963849" y="6028189"/>
                </a:lnTo>
                <a:lnTo>
                  <a:pt x="0" y="60281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5962642" y="413311"/>
            <a:ext cx="17270502" cy="72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1"/>
              </a:lnSpc>
              <a:spcBef>
                <a:spcPct val="0"/>
              </a:spcBef>
            </a:pPr>
            <a:r>
              <a:rPr lang="en-US" b="true" sz="4179" i="true" spc="62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HIPÓTESIS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07270" y="1433156"/>
            <a:ext cx="9943119" cy="45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¿Impactan las notas de los críticos en las ventas?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3885703" y="6913403"/>
            <a:ext cx="1070527" cy="5676668"/>
          </a:xfrm>
          <a:custGeom>
            <a:avLst/>
            <a:gdLst/>
            <a:ahLst/>
            <a:cxnLst/>
            <a:rect r="r" b="b" t="t" l="l"/>
            <a:pathLst>
              <a:path h="5676668" w="1070527">
                <a:moveTo>
                  <a:pt x="0" y="0"/>
                </a:moveTo>
                <a:lnTo>
                  <a:pt x="1070526" y="0"/>
                </a:lnTo>
                <a:lnTo>
                  <a:pt x="1070526" y="5676668"/>
                </a:lnTo>
                <a:lnTo>
                  <a:pt x="0" y="567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120837" b="-1497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3331771" y="6913403"/>
            <a:ext cx="1070527" cy="5676668"/>
          </a:xfrm>
          <a:custGeom>
            <a:avLst/>
            <a:gdLst/>
            <a:ahLst/>
            <a:cxnLst/>
            <a:rect r="r" b="b" t="t" l="l"/>
            <a:pathLst>
              <a:path h="5676668" w="1070527">
                <a:moveTo>
                  <a:pt x="0" y="5676668"/>
                </a:moveTo>
                <a:lnTo>
                  <a:pt x="1070526" y="5676668"/>
                </a:lnTo>
                <a:lnTo>
                  <a:pt x="1070526" y="0"/>
                </a:lnTo>
                <a:lnTo>
                  <a:pt x="0" y="0"/>
                </a:lnTo>
                <a:lnTo>
                  <a:pt x="0" y="567666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120837" b="-1497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3331771" y="-2303071"/>
            <a:ext cx="1070527" cy="5676668"/>
          </a:xfrm>
          <a:custGeom>
            <a:avLst/>
            <a:gdLst/>
            <a:ahLst/>
            <a:cxnLst/>
            <a:rect r="r" b="b" t="t" l="l"/>
            <a:pathLst>
              <a:path h="5676668" w="1070527">
                <a:moveTo>
                  <a:pt x="0" y="0"/>
                </a:moveTo>
                <a:lnTo>
                  <a:pt x="1070526" y="0"/>
                </a:lnTo>
                <a:lnTo>
                  <a:pt x="1070526" y="5676668"/>
                </a:lnTo>
                <a:lnTo>
                  <a:pt x="0" y="567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120837" b="-1497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400000">
            <a:off x="13885703" y="-2303071"/>
            <a:ext cx="1070527" cy="5676668"/>
          </a:xfrm>
          <a:custGeom>
            <a:avLst/>
            <a:gdLst/>
            <a:ahLst/>
            <a:cxnLst/>
            <a:rect r="r" b="b" t="t" l="l"/>
            <a:pathLst>
              <a:path h="5676668" w="1070527">
                <a:moveTo>
                  <a:pt x="0" y="5676668"/>
                </a:moveTo>
                <a:lnTo>
                  <a:pt x="1070526" y="5676668"/>
                </a:lnTo>
                <a:lnTo>
                  <a:pt x="1070526" y="0"/>
                </a:lnTo>
                <a:lnTo>
                  <a:pt x="0" y="0"/>
                </a:lnTo>
                <a:lnTo>
                  <a:pt x="0" y="567666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120837" b="-14971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1382063" y="3671165"/>
            <a:ext cx="1053325" cy="963892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700739" y="1609080"/>
            <a:ext cx="17769198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b="true" sz="4300" i="true" spc="64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CONCLUSIONES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41280" y="3229062"/>
            <a:ext cx="12751946" cy="90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¿Han cambiado las preferencias de los géneros de videojuegos </a:t>
            </a:r>
          </a:p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lo largo del tiempo?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2978" y="5008618"/>
            <a:ext cx="14302044" cy="90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¿Existen diferencias significativas en los géneros más populares entre </a:t>
            </a:r>
          </a:p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Norteamérica, Europa y Japón?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45694" y="6788174"/>
            <a:ext cx="9943119" cy="45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b="true" sz="3130" spc="4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¿Impactan las notas de los críticos en las ventas?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2435388" y="5492307"/>
            <a:ext cx="1053325" cy="963892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3667101" y="7082228"/>
            <a:ext cx="1053325" cy="9638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8" t="-12222" r="-4062" b="-7981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3825053" y="923925"/>
            <a:ext cx="10637893" cy="0"/>
          </a:xfrm>
          <a:prstGeom prst="line">
            <a:avLst/>
          </a:prstGeom>
          <a:ln cap="flat" w="47625">
            <a:solidFill>
              <a:srgbClr val="00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57645" y="6466325"/>
            <a:ext cx="5333070" cy="3374145"/>
          </a:xfrm>
          <a:custGeom>
            <a:avLst/>
            <a:gdLst/>
            <a:ahLst/>
            <a:cxnLst/>
            <a:rect r="r" b="b" t="t" l="l"/>
            <a:pathLst>
              <a:path h="3374145" w="5333070">
                <a:moveTo>
                  <a:pt x="0" y="0"/>
                </a:moveTo>
                <a:lnTo>
                  <a:pt x="5333070" y="0"/>
                </a:lnTo>
                <a:lnTo>
                  <a:pt x="5333070" y="3374145"/>
                </a:lnTo>
                <a:lnTo>
                  <a:pt x="0" y="33741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5090" r="-10183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97285" y="6466325"/>
            <a:ext cx="5333070" cy="3374145"/>
          </a:xfrm>
          <a:custGeom>
            <a:avLst/>
            <a:gdLst/>
            <a:ahLst/>
            <a:cxnLst/>
            <a:rect r="r" b="b" t="t" l="l"/>
            <a:pathLst>
              <a:path h="3374145" w="5333070">
                <a:moveTo>
                  <a:pt x="0" y="0"/>
                </a:moveTo>
                <a:lnTo>
                  <a:pt x="5333070" y="0"/>
                </a:lnTo>
                <a:lnTo>
                  <a:pt x="5333070" y="3374145"/>
                </a:lnTo>
                <a:lnTo>
                  <a:pt x="0" y="33741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835" t="-6509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6669022" y="8971028"/>
            <a:ext cx="4949956" cy="1113740"/>
          </a:xfrm>
          <a:prstGeom prst="rect">
            <a:avLst/>
          </a:prstGeom>
          <a:ln cap="sq">
            <a:noFill/>
            <a:prstDash val="solid"/>
          </a:ln>
        </p:spPr>
      </p:pic>
      <p:sp>
        <p:nvSpPr>
          <p:cNvPr name="TextBox 7" id="7"/>
          <p:cNvSpPr txBox="true"/>
          <p:nvPr/>
        </p:nvSpPr>
        <p:spPr>
          <a:xfrm rot="0">
            <a:off x="2400760" y="3465087"/>
            <a:ext cx="13486480" cy="178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b="true" sz="10400" i="true" spc="176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DAGiEo7nk1I</dc:identifier>
  <dcterms:modified xsi:type="dcterms:W3CDTF">2011-08-01T06:04:30Z</dcterms:modified>
  <cp:revision>1</cp:revision>
  <dc:title>Neon Light Pro Game Player Guide Presentation</dc:title>
</cp:coreProperties>
</file>